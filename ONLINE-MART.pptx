
<file path=[Content_Types].xml><?xml version="1.0" encoding="utf-8"?>
<Types xmlns="http://schemas.openxmlformats.org/package/2006/content-types">
  <Override PartName="/ppt/slides/slide5.xml" ContentType="application/vnd.openxmlformats-officedocument.presentationml.slide+xml"/>
  <Override PartName="/ppt/notesSlides/notesSlide1.xml" ContentType="application/vnd.openxmlformats-officedocument.presentationml.notesSlide+xml"/>
  <Default Extension="png" ContentType="image/png"/>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7" r:id="rId2"/>
    <p:sldId id="265" r:id="rId3"/>
    <p:sldId id="266" r:id="rId4"/>
    <p:sldId id="267" r:id="rId5"/>
    <p:sldId id="261" r:id="rId6"/>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11"/>
    <p:restoredTop sz="94610"/>
  </p:normalViewPr>
  <p:slideViewPr>
    <p:cSldViewPr snapToGrid="0" snapToObjects="1">
      <p:cViewPr varScale="1">
        <p:scale>
          <a:sx n="57" d="100"/>
          <a:sy n="57" d="100"/>
        </p:scale>
        <p:origin x="-756" y="-78"/>
      </p:cViewPr>
      <p:guideLst>
        <p:guide orient="horz" pos="2592"/>
        <p:guide pos="4608"/>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33822661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p14="http://schemas.microsoft.com/office/powerpoint/2010/main" xmlns="" val="6583129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p14="http://schemas.microsoft.com/office/powerpoint/2010/main" xmlns="" val="6583129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extLst>
      <p:ext uri="{BB962C8B-B14F-4D97-AF65-F5344CB8AC3E}">
        <p14:creationId xmlns:p14="http://schemas.microsoft.com/office/powerpoint/2010/main" xmlns="" val="6583129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extLst>
      <p:ext uri="{BB962C8B-B14F-4D97-AF65-F5344CB8AC3E}">
        <p14:creationId xmlns:p14="http://schemas.microsoft.com/office/powerpoint/2010/main" xmlns=""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75000"/>
            </a:srgbClr>
          </a:solidFill>
          <a:ln w="13811">
            <a:solidFill>
              <a:srgbClr val="FFFFFF">
                <a:alpha val="16000"/>
              </a:srgbClr>
            </a:solidFill>
            <a:prstDash val="solid"/>
          </a:ln>
        </p:spPr>
        <p:txBody>
          <a:bodyPr/>
          <a:lstStyle/>
          <a:p>
            <a:endParaRPr lang="en-IN" dirty="0">
              <a:solidFill>
                <a:schemeClr val="bg1"/>
              </a:solidFill>
            </a:endParaRPr>
          </a:p>
        </p:txBody>
      </p:sp>
      <p:sp>
        <p:nvSpPr>
          <p:cNvPr id="4" name="Text 1"/>
          <p:cNvSpPr/>
          <p:nvPr/>
        </p:nvSpPr>
        <p:spPr>
          <a:xfrm>
            <a:off x="833199" y="2720697"/>
            <a:ext cx="7477601" cy="1388745"/>
          </a:xfrm>
          <a:prstGeom prst="rect">
            <a:avLst/>
          </a:prstGeom>
          <a:noFill/>
          <a:ln/>
        </p:spPr>
        <p:txBody>
          <a:bodyPr wrap="square" rtlCol="0" anchor="t"/>
          <a:lstStyle/>
          <a:p>
            <a:pPr marL="0" indent="0">
              <a:lnSpc>
                <a:spcPts val="5468"/>
              </a:lnSpc>
              <a:buNone/>
            </a:pPr>
            <a:r>
              <a:rPr lang="en-US" sz="4374" dirty="0" smtClean="0">
                <a:solidFill>
                  <a:srgbClr val="F2F0F4"/>
                </a:solidFill>
                <a:latin typeface="Montserrat" pitchFamily="34" charset="0"/>
                <a:ea typeface="Montserrat" pitchFamily="34" charset="-122"/>
              </a:rPr>
              <a:t>PROBLEM STATMENT</a:t>
            </a:r>
            <a:endParaRPr lang="en-US" sz="4374" dirty="0"/>
          </a:p>
        </p:txBody>
      </p:sp>
      <p:sp>
        <p:nvSpPr>
          <p:cNvPr id="5" name="Text 2"/>
          <p:cNvSpPr/>
          <p:nvPr/>
        </p:nvSpPr>
        <p:spPr>
          <a:xfrm>
            <a:off x="833199" y="4442698"/>
            <a:ext cx="7477601" cy="1066205"/>
          </a:xfrm>
          <a:prstGeom prst="rect">
            <a:avLst/>
          </a:prstGeom>
          <a:noFill/>
          <a:ln/>
        </p:spPr>
        <p:txBody>
          <a:bodyPr wrap="square" rtlCol="0" anchor="t"/>
          <a:lstStyle/>
          <a:p>
            <a:pPr marL="0" indent="0">
              <a:lnSpc>
                <a:spcPts val="2799"/>
              </a:lnSpc>
              <a:buNone/>
            </a:pPr>
            <a:endParaRPr lang="en-US" sz="1750" dirty="0"/>
          </a:p>
        </p:txBody>
      </p:sp>
      <p:pic>
        <p:nvPicPr>
          <p:cNvPr id="6" name="Image 1" descr="preencoded.png"/>
          <p:cNvPicPr>
            <a:picLocks noChangeAspect="1"/>
          </p:cNvPicPr>
          <p:nvPr/>
        </p:nvPicPr>
        <p:blipFill>
          <a:blip r:embed="rId4"/>
          <a:stretch>
            <a:fillRect/>
          </a:stretch>
        </p:blipFill>
        <p:spPr>
          <a:xfrm>
            <a:off x="9144000" y="0"/>
            <a:ext cx="5486400" cy="8229600"/>
          </a:xfrm>
          <a:prstGeom prst="rect">
            <a:avLst/>
          </a:prstGeom>
        </p:spPr>
      </p:pic>
      <p:sp>
        <p:nvSpPr>
          <p:cNvPr id="8" name="TextBox 7"/>
          <p:cNvSpPr txBox="1"/>
          <p:nvPr/>
        </p:nvSpPr>
        <p:spPr>
          <a:xfrm>
            <a:off x="833199" y="4109442"/>
            <a:ext cx="7477601" cy="3970318"/>
          </a:xfrm>
          <a:prstGeom prst="rect">
            <a:avLst/>
          </a:prstGeom>
          <a:noFill/>
        </p:spPr>
        <p:txBody>
          <a:bodyPr wrap="square" rtlCol="0">
            <a:spAutoFit/>
          </a:bodyPr>
          <a:lstStyle/>
          <a:p>
            <a:r>
              <a:rPr lang="en-US" sz="2800" dirty="0" smtClean="0">
                <a:solidFill>
                  <a:schemeClr val="bg1"/>
                </a:solidFill>
              </a:rPr>
              <a:t>The problem is to create a Java program for </a:t>
            </a:r>
            <a:r>
              <a:rPr lang="en-US" sz="2800" dirty="0" smtClean="0">
                <a:solidFill>
                  <a:schemeClr val="bg1"/>
                </a:solidFill>
              </a:rPr>
              <a:t>a </a:t>
            </a:r>
            <a:r>
              <a:rPr lang="en-US" sz="2800" dirty="0" smtClean="0">
                <a:solidFill>
                  <a:schemeClr val="bg1"/>
                </a:solidFill>
              </a:rPr>
              <a:t>supermarket that allows customers to shop for various products from different categories. The program should handle product selection, quantity, and calculate the total bill for the customer. Additionally, it should provide an option for customers to continue shopping or exit the program.</a:t>
            </a:r>
            <a:endParaRPr lang="en-IN" sz="2800" dirty="0" smtClean="0">
              <a:solidFill>
                <a:schemeClr val="bg1"/>
              </a:solidFill>
            </a:endParaRPr>
          </a:p>
          <a:p>
            <a:endParaRPr lang="en-US" sz="28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1"/>
            <a:ext cx="14630400" cy="8229599"/>
          </a:xfrm>
          <a:prstGeom prst="rect">
            <a:avLst/>
          </a:prstGeom>
          <a:solidFill>
            <a:srgbClr val="0D0A2C">
              <a:alpha val="75000"/>
            </a:srgbClr>
          </a:solidFill>
          <a:ln w="13811">
            <a:solidFill>
              <a:srgbClr val="FFFFFF">
                <a:alpha val="16000"/>
              </a:srgbClr>
            </a:solidFill>
            <a:prstDash val="solid"/>
          </a:ln>
        </p:spPr>
        <p:txBody>
          <a:bodyPr/>
          <a:lstStyle/>
          <a:p>
            <a:r>
              <a:rPr lang="en-US" sz="3600" dirty="0" smtClean="0">
                <a:solidFill>
                  <a:schemeClr val="bg1"/>
                </a:solidFill>
              </a:rPr>
              <a:t> </a:t>
            </a:r>
            <a:r>
              <a:rPr lang="en-US" sz="3600" dirty="0" smtClean="0">
                <a:solidFill>
                  <a:schemeClr val="bg1"/>
                </a:solidFill>
              </a:rPr>
              <a:t>                                                         SOLUTION</a:t>
            </a:r>
            <a:endParaRPr lang="en-US" sz="3600" dirty="0">
              <a:solidFill>
                <a:schemeClr val="bg1"/>
              </a:solidFill>
            </a:endParaRPr>
          </a:p>
        </p:txBody>
      </p:sp>
      <p:sp>
        <p:nvSpPr>
          <p:cNvPr id="4" name="Text 1"/>
          <p:cNvSpPr/>
          <p:nvPr/>
        </p:nvSpPr>
        <p:spPr>
          <a:xfrm>
            <a:off x="2037993" y="2318028"/>
            <a:ext cx="8679180" cy="694373"/>
          </a:xfrm>
          <a:prstGeom prst="rect">
            <a:avLst/>
          </a:prstGeom>
          <a:noFill/>
          <a:ln/>
        </p:spPr>
        <p:txBody>
          <a:bodyPr wrap="none" rtlCol="0" anchor="t"/>
          <a:lstStyle/>
          <a:p>
            <a:pPr marL="0" indent="0">
              <a:lnSpc>
                <a:spcPts val="5468"/>
              </a:lnSpc>
              <a:buNone/>
            </a:pPr>
            <a:endParaRPr lang="en-US" sz="4374" dirty="0"/>
          </a:p>
        </p:txBody>
      </p:sp>
      <p:sp>
        <p:nvSpPr>
          <p:cNvPr id="6" name="Text 3"/>
          <p:cNvSpPr/>
          <p:nvPr/>
        </p:nvSpPr>
        <p:spPr>
          <a:xfrm>
            <a:off x="2273975" y="3692723"/>
            <a:ext cx="2278380" cy="347186"/>
          </a:xfrm>
          <a:prstGeom prst="rect">
            <a:avLst/>
          </a:prstGeom>
          <a:noFill/>
          <a:ln/>
        </p:spPr>
        <p:txBody>
          <a:bodyPr wrap="none" rtlCol="0" anchor="t"/>
          <a:lstStyle/>
          <a:p>
            <a:pPr marL="0" indent="0">
              <a:lnSpc>
                <a:spcPts val="2734"/>
              </a:lnSpc>
              <a:buNone/>
            </a:pPr>
            <a:endParaRPr lang="en-US" sz="2187" dirty="0"/>
          </a:p>
        </p:txBody>
      </p:sp>
      <p:sp>
        <p:nvSpPr>
          <p:cNvPr id="7" name="Text 4"/>
          <p:cNvSpPr/>
          <p:nvPr/>
        </p:nvSpPr>
        <p:spPr>
          <a:xfrm>
            <a:off x="2273975" y="4262080"/>
            <a:ext cx="2898100" cy="1066205"/>
          </a:xfrm>
          <a:prstGeom prst="rect">
            <a:avLst/>
          </a:prstGeom>
          <a:noFill/>
          <a:ln/>
        </p:spPr>
        <p:txBody>
          <a:bodyPr wrap="square" rtlCol="0" anchor="t"/>
          <a:lstStyle/>
          <a:p>
            <a:pPr marL="0" indent="0">
              <a:lnSpc>
                <a:spcPts val="2799"/>
              </a:lnSpc>
              <a:buNone/>
            </a:pPr>
            <a:endParaRPr lang="en-US" sz="1750" dirty="0"/>
          </a:p>
        </p:txBody>
      </p:sp>
      <p:sp>
        <p:nvSpPr>
          <p:cNvPr id="10" name="Text 7"/>
          <p:cNvSpPr/>
          <p:nvPr/>
        </p:nvSpPr>
        <p:spPr>
          <a:xfrm>
            <a:off x="5866209" y="4262080"/>
            <a:ext cx="2898100" cy="1066205"/>
          </a:xfrm>
          <a:prstGeom prst="rect">
            <a:avLst/>
          </a:prstGeom>
          <a:noFill/>
          <a:ln/>
        </p:spPr>
        <p:txBody>
          <a:bodyPr wrap="square" rtlCol="0" anchor="t"/>
          <a:lstStyle/>
          <a:p>
            <a:pPr marL="0" indent="0">
              <a:lnSpc>
                <a:spcPts val="2799"/>
              </a:lnSpc>
              <a:buNone/>
            </a:pPr>
            <a:endParaRPr lang="en-US" sz="1750" dirty="0"/>
          </a:p>
        </p:txBody>
      </p:sp>
      <p:sp>
        <p:nvSpPr>
          <p:cNvPr id="12" name="Text 9"/>
          <p:cNvSpPr/>
          <p:nvPr/>
        </p:nvSpPr>
        <p:spPr>
          <a:xfrm>
            <a:off x="9458444" y="3692723"/>
            <a:ext cx="2898100" cy="694373"/>
          </a:xfrm>
          <a:prstGeom prst="rect">
            <a:avLst/>
          </a:prstGeom>
          <a:noFill/>
          <a:ln/>
        </p:spPr>
        <p:txBody>
          <a:bodyPr wrap="square" rtlCol="0" anchor="t"/>
          <a:lstStyle/>
          <a:p>
            <a:pPr marL="0" indent="0">
              <a:lnSpc>
                <a:spcPts val="2734"/>
              </a:lnSpc>
              <a:buNone/>
            </a:pPr>
            <a:endParaRPr lang="en-US" sz="2187" dirty="0"/>
          </a:p>
        </p:txBody>
      </p:sp>
      <p:sp>
        <p:nvSpPr>
          <p:cNvPr id="13" name="Text 10"/>
          <p:cNvSpPr/>
          <p:nvPr/>
        </p:nvSpPr>
        <p:spPr>
          <a:xfrm>
            <a:off x="9458444" y="4609267"/>
            <a:ext cx="2898100" cy="1066205"/>
          </a:xfrm>
          <a:prstGeom prst="rect">
            <a:avLst/>
          </a:prstGeom>
          <a:noFill/>
          <a:ln/>
        </p:spPr>
        <p:txBody>
          <a:bodyPr wrap="square" rtlCol="0" anchor="t"/>
          <a:lstStyle/>
          <a:p>
            <a:pPr marL="0" indent="0">
              <a:lnSpc>
                <a:spcPts val="2799"/>
              </a:lnSpc>
              <a:buNone/>
            </a:pPr>
            <a:endParaRPr lang="en-US" sz="1750" dirty="0"/>
          </a:p>
        </p:txBody>
      </p:sp>
      <p:sp>
        <p:nvSpPr>
          <p:cNvPr id="14" name="TextBox 13"/>
          <p:cNvSpPr txBox="1"/>
          <p:nvPr/>
        </p:nvSpPr>
        <p:spPr>
          <a:xfrm>
            <a:off x="681644" y="1014153"/>
            <a:ext cx="12718472" cy="6370975"/>
          </a:xfrm>
          <a:prstGeom prst="rect">
            <a:avLst/>
          </a:prstGeom>
          <a:noFill/>
        </p:spPr>
        <p:txBody>
          <a:bodyPr wrap="square" rtlCol="0">
            <a:spAutoFit/>
          </a:bodyPr>
          <a:lstStyle/>
          <a:p>
            <a:r>
              <a:rPr lang="en-US" sz="2400" dirty="0" smtClean="0">
                <a:solidFill>
                  <a:schemeClr val="bg1"/>
                </a:solidFill>
              </a:rPr>
              <a:t>The provided Java code is a </a:t>
            </a:r>
            <a:r>
              <a:rPr lang="en-US" sz="2400" dirty="0" smtClean="0">
                <a:solidFill>
                  <a:schemeClr val="bg1"/>
                </a:solidFill>
              </a:rPr>
              <a:t>solution </a:t>
            </a:r>
            <a:r>
              <a:rPr lang="en-US" sz="2400" dirty="0" smtClean="0">
                <a:solidFill>
                  <a:schemeClr val="bg1"/>
                </a:solidFill>
              </a:rPr>
              <a:t>to the problem statement. It represents a </a:t>
            </a:r>
            <a:r>
              <a:rPr lang="en-US" sz="2400" dirty="0" smtClean="0">
                <a:solidFill>
                  <a:schemeClr val="bg1"/>
                </a:solidFill>
              </a:rPr>
              <a:t>supermarket </a:t>
            </a:r>
            <a:r>
              <a:rPr lang="en-US" sz="2400" dirty="0" smtClean="0">
                <a:solidFill>
                  <a:schemeClr val="bg1"/>
                </a:solidFill>
              </a:rPr>
              <a:t>program that allows users to select products from various categories, input the quantity they want to purchase, and calculates the total bill. Here is a breakdown of the code:</a:t>
            </a:r>
          </a:p>
          <a:p>
            <a:r>
              <a:rPr lang="en-US" sz="2400" dirty="0" smtClean="0">
                <a:solidFill>
                  <a:schemeClr val="bg1"/>
                </a:solidFill>
              </a:rPr>
              <a:t>The mart class contains the main program logic, including the menu for different product categories and the shopping process.</a:t>
            </a:r>
          </a:p>
          <a:p>
            <a:r>
              <a:rPr lang="en-US" sz="2400" dirty="0" smtClean="0">
                <a:solidFill>
                  <a:schemeClr val="bg1"/>
                </a:solidFill>
              </a:rPr>
              <a:t>Each product category (e.g., vegetables, fruits, staples) is implemented as a separate private method (e.g., </a:t>
            </a:r>
            <a:r>
              <a:rPr lang="en-US" sz="2400" dirty="0" err="1" smtClean="0">
                <a:solidFill>
                  <a:schemeClr val="bg1"/>
                </a:solidFill>
              </a:rPr>
              <a:t>vegies</a:t>
            </a:r>
            <a:r>
              <a:rPr lang="en-US" sz="2400" dirty="0" smtClean="0">
                <a:solidFill>
                  <a:schemeClr val="bg1"/>
                </a:solidFill>
              </a:rPr>
              <a:t>(), fruits(), staples()) that allows the user to select products, specify quantities, and calculates the subtotal for that category.</a:t>
            </a:r>
          </a:p>
          <a:p>
            <a:r>
              <a:rPr lang="en-US" sz="2400" dirty="0" smtClean="0">
                <a:solidFill>
                  <a:schemeClr val="bg1"/>
                </a:solidFill>
              </a:rPr>
              <a:t>The program uses arrays (name[], price[], quantity[], amt[]) to store the names, prices, quantities, and amounts for each product selected by the customer.</a:t>
            </a:r>
          </a:p>
          <a:p>
            <a:r>
              <a:rPr lang="en-US" sz="2400" dirty="0" smtClean="0">
                <a:solidFill>
                  <a:schemeClr val="bg1"/>
                </a:solidFill>
              </a:rPr>
              <a:t>The program calculates the grand total bill (</a:t>
            </a:r>
            <a:r>
              <a:rPr lang="en-US" sz="2400" dirty="0" err="1" smtClean="0">
                <a:solidFill>
                  <a:schemeClr val="bg1"/>
                </a:solidFill>
              </a:rPr>
              <a:t>grbill</a:t>
            </a:r>
            <a:r>
              <a:rPr lang="en-US" sz="2400" dirty="0" smtClean="0">
                <a:solidFill>
                  <a:schemeClr val="bg1"/>
                </a:solidFill>
              </a:rPr>
              <a:t>) by accumulating the subtotals from each product category.</a:t>
            </a:r>
          </a:p>
          <a:p>
            <a:r>
              <a:rPr lang="en-US" sz="2400" dirty="0" smtClean="0">
                <a:solidFill>
                  <a:schemeClr val="bg1"/>
                </a:solidFill>
              </a:rPr>
              <a:t>After shopping, the program prompts the user to enter their name and phone number and then displays the final bill, including the product details and grand total.</a:t>
            </a:r>
          </a:p>
          <a:p>
            <a:r>
              <a:rPr lang="en-US" sz="2400" dirty="0" smtClean="0">
                <a:solidFill>
                  <a:schemeClr val="bg1"/>
                </a:solidFill>
              </a:rPr>
              <a:t>The program uses a do-while loop to allow customers to continue shopping or exit the program based on their input.</a:t>
            </a:r>
          </a:p>
          <a:p>
            <a:endParaRPr lang="en-US" sz="2400" dirty="0">
              <a:solidFill>
                <a:schemeClr val="bg1"/>
              </a:solidFill>
            </a:endParaRPr>
          </a:p>
        </p:txBody>
      </p:sp>
    </p:spTree>
    <p:extLst>
      <p:ext uri="{BB962C8B-B14F-4D97-AF65-F5344CB8AC3E}">
        <p14:creationId xmlns:p14="http://schemas.microsoft.com/office/powerpoint/2010/main" xmlns="" val="39915732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599"/>
          </a:xfrm>
          <a:prstGeom prst="rect">
            <a:avLst/>
          </a:prstGeom>
          <a:solidFill>
            <a:srgbClr val="0D0A2C">
              <a:alpha val="75000"/>
            </a:srgbClr>
          </a:solidFill>
          <a:ln w="13811">
            <a:solidFill>
              <a:srgbClr val="FFFFFF">
                <a:alpha val="16000"/>
              </a:srgbClr>
            </a:solidFill>
            <a:prstDash val="solid"/>
          </a:ln>
        </p:spPr>
        <p:txBody>
          <a:bodyPr/>
          <a:lstStyle/>
          <a:p>
            <a:r>
              <a:rPr lang="en-US" sz="3600" dirty="0" smtClean="0">
                <a:solidFill>
                  <a:schemeClr val="bg1"/>
                </a:solidFill>
              </a:rPr>
              <a:t> </a:t>
            </a:r>
            <a:r>
              <a:rPr lang="en-US" sz="3600" dirty="0" smtClean="0">
                <a:solidFill>
                  <a:schemeClr val="bg1"/>
                </a:solidFill>
              </a:rPr>
              <a:t>                                                         TECHSTACK</a:t>
            </a:r>
            <a:endParaRPr lang="en-US" sz="3600" dirty="0">
              <a:solidFill>
                <a:schemeClr val="bg1"/>
              </a:solidFill>
            </a:endParaRPr>
          </a:p>
        </p:txBody>
      </p:sp>
      <p:sp>
        <p:nvSpPr>
          <p:cNvPr id="4" name="Text 1"/>
          <p:cNvSpPr/>
          <p:nvPr/>
        </p:nvSpPr>
        <p:spPr>
          <a:xfrm>
            <a:off x="2037993" y="2318028"/>
            <a:ext cx="8679180" cy="694373"/>
          </a:xfrm>
          <a:prstGeom prst="rect">
            <a:avLst/>
          </a:prstGeom>
          <a:noFill/>
          <a:ln/>
        </p:spPr>
        <p:txBody>
          <a:bodyPr wrap="none" rtlCol="0" anchor="t"/>
          <a:lstStyle/>
          <a:p>
            <a:pPr marL="0" indent="0">
              <a:lnSpc>
                <a:spcPts val="5468"/>
              </a:lnSpc>
              <a:buNone/>
            </a:pPr>
            <a:endParaRPr lang="en-US" sz="4374" dirty="0"/>
          </a:p>
        </p:txBody>
      </p:sp>
      <p:sp>
        <p:nvSpPr>
          <p:cNvPr id="6" name="Text 3"/>
          <p:cNvSpPr/>
          <p:nvPr/>
        </p:nvSpPr>
        <p:spPr>
          <a:xfrm>
            <a:off x="2273975" y="3692723"/>
            <a:ext cx="2278380" cy="347186"/>
          </a:xfrm>
          <a:prstGeom prst="rect">
            <a:avLst/>
          </a:prstGeom>
          <a:noFill/>
          <a:ln/>
        </p:spPr>
        <p:txBody>
          <a:bodyPr wrap="none" rtlCol="0" anchor="t"/>
          <a:lstStyle/>
          <a:p>
            <a:pPr marL="0" indent="0">
              <a:lnSpc>
                <a:spcPts val="2734"/>
              </a:lnSpc>
              <a:buNone/>
            </a:pPr>
            <a:endParaRPr lang="en-US" sz="2187" dirty="0"/>
          </a:p>
        </p:txBody>
      </p:sp>
      <p:sp>
        <p:nvSpPr>
          <p:cNvPr id="7" name="Text 4"/>
          <p:cNvSpPr/>
          <p:nvPr/>
        </p:nvSpPr>
        <p:spPr>
          <a:xfrm>
            <a:off x="2273975" y="4262080"/>
            <a:ext cx="2898100" cy="1066205"/>
          </a:xfrm>
          <a:prstGeom prst="rect">
            <a:avLst/>
          </a:prstGeom>
          <a:noFill/>
          <a:ln/>
        </p:spPr>
        <p:txBody>
          <a:bodyPr wrap="square" rtlCol="0" anchor="t"/>
          <a:lstStyle/>
          <a:p>
            <a:pPr marL="0" indent="0">
              <a:lnSpc>
                <a:spcPts val="2799"/>
              </a:lnSpc>
              <a:buNone/>
            </a:pPr>
            <a:endParaRPr lang="en-US" sz="1750" dirty="0"/>
          </a:p>
        </p:txBody>
      </p:sp>
      <p:sp>
        <p:nvSpPr>
          <p:cNvPr id="10" name="Text 7"/>
          <p:cNvSpPr/>
          <p:nvPr/>
        </p:nvSpPr>
        <p:spPr>
          <a:xfrm>
            <a:off x="5866209" y="4262080"/>
            <a:ext cx="2898100" cy="1066205"/>
          </a:xfrm>
          <a:prstGeom prst="rect">
            <a:avLst/>
          </a:prstGeom>
          <a:noFill/>
          <a:ln/>
        </p:spPr>
        <p:txBody>
          <a:bodyPr wrap="square" rtlCol="0" anchor="t"/>
          <a:lstStyle/>
          <a:p>
            <a:pPr marL="0" indent="0">
              <a:lnSpc>
                <a:spcPts val="2799"/>
              </a:lnSpc>
              <a:buNone/>
            </a:pPr>
            <a:endParaRPr lang="en-US" sz="1750" dirty="0"/>
          </a:p>
        </p:txBody>
      </p:sp>
      <p:sp>
        <p:nvSpPr>
          <p:cNvPr id="12" name="Text 9"/>
          <p:cNvSpPr/>
          <p:nvPr/>
        </p:nvSpPr>
        <p:spPr>
          <a:xfrm>
            <a:off x="9458444" y="3692723"/>
            <a:ext cx="2898100" cy="694373"/>
          </a:xfrm>
          <a:prstGeom prst="rect">
            <a:avLst/>
          </a:prstGeom>
          <a:noFill/>
          <a:ln/>
        </p:spPr>
        <p:txBody>
          <a:bodyPr wrap="square" rtlCol="0" anchor="t"/>
          <a:lstStyle/>
          <a:p>
            <a:pPr marL="0" indent="0">
              <a:lnSpc>
                <a:spcPts val="2734"/>
              </a:lnSpc>
              <a:buNone/>
            </a:pPr>
            <a:endParaRPr lang="en-US" sz="2187" dirty="0"/>
          </a:p>
        </p:txBody>
      </p:sp>
      <p:sp>
        <p:nvSpPr>
          <p:cNvPr id="13" name="Text 10"/>
          <p:cNvSpPr/>
          <p:nvPr/>
        </p:nvSpPr>
        <p:spPr>
          <a:xfrm>
            <a:off x="9458444" y="4609267"/>
            <a:ext cx="2898100" cy="1066205"/>
          </a:xfrm>
          <a:prstGeom prst="rect">
            <a:avLst/>
          </a:prstGeom>
          <a:noFill/>
          <a:ln/>
        </p:spPr>
        <p:txBody>
          <a:bodyPr wrap="square" rtlCol="0" anchor="t"/>
          <a:lstStyle/>
          <a:p>
            <a:pPr marL="0" indent="0">
              <a:lnSpc>
                <a:spcPts val="2799"/>
              </a:lnSpc>
              <a:buNone/>
            </a:pPr>
            <a:endParaRPr lang="en-US" sz="1750" dirty="0"/>
          </a:p>
        </p:txBody>
      </p:sp>
      <p:sp>
        <p:nvSpPr>
          <p:cNvPr id="11" name="TextBox 10"/>
          <p:cNvSpPr txBox="1"/>
          <p:nvPr/>
        </p:nvSpPr>
        <p:spPr>
          <a:xfrm>
            <a:off x="216131" y="548640"/>
            <a:ext cx="14414269" cy="7478970"/>
          </a:xfrm>
          <a:prstGeom prst="rect">
            <a:avLst/>
          </a:prstGeom>
          <a:noFill/>
        </p:spPr>
        <p:txBody>
          <a:bodyPr wrap="square" rtlCol="0">
            <a:spAutoFit/>
          </a:bodyPr>
          <a:lstStyle/>
          <a:p>
            <a:r>
              <a:rPr lang="en-US" sz="2400" b="1" dirty="0" smtClean="0">
                <a:solidFill>
                  <a:schemeClr val="bg1"/>
                </a:solidFill>
              </a:rPr>
              <a:t>Programming Language:</a:t>
            </a:r>
            <a:r>
              <a:rPr lang="en-US" sz="2400" dirty="0" smtClean="0">
                <a:solidFill>
                  <a:schemeClr val="bg1"/>
                </a:solidFill>
              </a:rPr>
              <a:t> Java - The core language used for writing the entire program.</a:t>
            </a:r>
          </a:p>
          <a:p>
            <a:r>
              <a:rPr lang="en-US" sz="2400" b="1" dirty="0" smtClean="0">
                <a:solidFill>
                  <a:schemeClr val="bg1"/>
                </a:solidFill>
              </a:rPr>
              <a:t>Development Environment:</a:t>
            </a:r>
            <a:r>
              <a:rPr lang="en-US" sz="2400" dirty="0" smtClean="0">
                <a:solidFill>
                  <a:schemeClr val="bg1"/>
                </a:solidFill>
              </a:rPr>
              <a:t> The code can be developed and run in any Java development environment such as Eclipse, </a:t>
            </a:r>
            <a:r>
              <a:rPr lang="en-US" sz="2400" dirty="0" err="1" smtClean="0">
                <a:solidFill>
                  <a:schemeClr val="bg1"/>
                </a:solidFill>
              </a:rPr>
              <a:t>IntelliJ</a:t>
            </a:r>
            <a:r>
              <a:rPr lang="en-US" sz="2400" dirty="0" smtClean="0">
                <a:solidFill>
                  <a:schemeClr val="bg1"/>
                </a:solidFill>
              </a:rPr>
              <a:t> IDEA, or Visual Studio Code.</a:t>
            </a:r>
          </a:p>
          <a:p>
            <a:r>
              <a:rPr lang="en-US" sz="2400" b="1" dirty="0" smtClean="0">
                <a:solidFill>
                  <a:schemeClr val="bg1"/>
                </a:solidFill>
              </a:rPr>
              <a:t>User Input Handling:</a:t>
            </a:r>
            <a:endParaRPr lang="en-US" sz="2400" dirty="0" smtClean="0">
              <a:solidFill>
                <a:schemeClr val="bg1"/>
              </a:solidFill>
            </a:endParaRPr>
          </a:p>
          <a:p>
            <a:pPr lvl="1"/>
            <a:r>
              <a:rPr lang="en-US" sz="2400" b="1" dirty="0" smtClean="0">
                <a:solidFill>
                  <a:schemeClr val="bg1"/>
                </a:solidFill>
              </a:rPr>
              <a:t>Scanner Class:</a:t>
            </a:r>
            <a:r>
              <a:rPr lang="en-US" sz="2400" dirty="0" smtClean="0">
                <a:solidFill>
                  <a:schemeClr val="bg1"/>
                </a:solidFill>
              </a:rPr>
              <a:t> Used for reading user input from the console.</a:t>
            </a:r>
          </a:p>
          <a:p>
            <a:r>
              <a:rPr lang="en-US" sz="2400" b="1" dirty="0" smtClean="0">
                <a:solidFill>
                  <a:schemeClr val="bg1"/>
                </a:solidFill>
              </a:rPr>
              <a:t>Data Storage:</a:t>
            </a:r>
            <a:endParaRPr lang="en-US" sz="2400" dirty="0" smtClean="0">
              <a:solidFill>
                <a:schemeClr val="bg1"/>
              </a:solidFill>
            </a:endParaRPr>
          </a:p>
          <a:p>
            <a:pPr lvl="1"/>
            <a:r>
              <a:rPr lang="en-US" sz="2400" b="1" dirty="0" smtClean="0">
                <a:solidFill>
                  <a:schemeClr val="bg1"/>
                </a:solidFill>
              </a:rPr>
              <a:t>Arrays:</a:t>
            </a:r>
            <a:r>
              <a:rPr lang="en-US" sz="2400" dirty="0" smtClean="0">
                <a:solidFill>
                  <a:schemeClr val="bg1"/>
                </a:solidFill>
              </a:rPr>
              <a:t> Arrays are used to store product names, prices, quantities, and amounts for the selected products. Several arrays like name[], price[], quantity[], and amt[] are used for this purpose.</a:t>
            </a:r>
          </a:p>
          <a:p>
            <a:r>
              <a:rPr lang="en-US" sz="2400" b="1" dirty="0" smtClean="0">
                <a:solidFill>
                  <a:schemeClr val="bg1"/>
                </a:solidFill>
              </a:rPr>
              <a:t>Menu System:</a:t>
            </a:r>
            <a:endParaRPr lang="en-US" sz="2400" dirty="0" smtClean="0">
              <a:solidFill>
                <a:schemeClr val="bg1"/>
              </a:solidFill>
            </a:endParaRPr>
          </a:p>
          <a:p>
            <a:pPr lvl="1"/>
            <a:r>
              <a:rPr lang="en-US" sz="2400" b="1" dirty="0" smtClean="0">
                <a:solidFill>
                  <a:schemeClr val="bg1"/>
                </a:solidFill>
              </a:rPr>
              <a:t>Switch Statement:</a:t>
            </a:r>
            <a:r>
              <a:rPr lang="en-US" sz="2400" dirty="0" smtClean="0">
                <a:solidFill>
                  <a:schemeClr val="bg1"/>
                </a:solidFill>
              </a:rPr>
              <a:t> Utilized for implementing a menu-driven system to select different product categories and process user choices.</a:t>
            </a:r>
          </a:p>
          <a:p>
            <a:r>
              <a:rPr lang="en-US" sz="2400" b="1" dirty="0" smtClean="0">
                <a:solidFill>
                  <a:schemeClr val="bg1"/>
                </a:solidFill>
              </a:rPr>
              <a:t>Object-Oriented Programming (OOP):</a:t>
            </a:r>
            <a:endParaRPr lang="en-US" sz="2400" dirty="0" smtClean="0">
              <a:solidFill>
                <a:schemeClr val="bg1"/>
              </a:solidFill>
            </a:endParaRPr>
          </a:p>
          <a:p>
            <a:pPr lvl="1"/>
            <a:r>
              <a:rPr lang="en-US" sz="2400" b="1" dirty="0" smtClean="0">
                <a:solidFill>
                  <a:schemeClr val="bg1"/>
                </a:solidFill>
              </a:rPr>
              <a:t>Classes and Methods:</a:t>
            </a:r>
            <a:r>
              <a:rPr lang="en-US" sz="2400" dirty="0" smtClean="0">
                <a:solidFill>
                  <a:schemeClr val="bg1"/>
                </a:solidFill>
              </a:rPr>
              <a:t> The program is structured using classes and methods to encapsulate functionality and improve code organization.</a:t>
            </a:r>
          </a:p>
          <a:p>
            <a:r>
              <a:rPr lang="en-US" sz="2400" b="1" dirty="0" smtClean="0">
                <a:solidFill>
                  <a:schemeClr val="bg1"/>
                </a:solidFill>
              </a:rPr>
              <a:t>Logic and Flow Control:</a:t>
            </a:r>
            <a:endParaRPr lang="en-US" sz="2400" dirty="0" smtClean="0">
              <a:solidFill>
                <a:schemeClr val="bg1"/>
              </a:solidFill>
            </a:endParaRPr>
          </a:p>
          <a:p>
            <a:pPr lvl="1"/>
            <a:r>
              <a:rPr lang="en-US" sz="2400" b="1" dirty="0" smtClean="0">
                <a:solidFill>
                  <a:schemeClr val="bg1"/>
                </a:solidFill>
              </a:rPr>
              <a:t>Conditional Statements:</a:t>
            </a:r>
            <a:r>
              <a:rPr lang="en-US" sz="2400" dirty="0" smtClean="0">
                <a:solidFill>
                  <a:schemeClr val="bg1"/>
                </a:solidFill>
              </a:rPr>
              <a:t> Used for checking user choices and handling different cases.</a:t>
            </a:r>
          </a:p>
          <a:p>
            <a:pPr lvl="1"/>
            <a:r>
              <a:rPr lang="en-US" sz="2400" b="1" dirty="0" smtClean="0">
                <a:solidFill>
                  <a:schemeClr val="bg1"/>
                </a:solidFill>
              </a:rPr>
              <a:t>Loops (do-while, for):</a:t>
            </a:r>
            <a:r>
              <a:rPr lang="en-US" sz="2400" dirty="0" smtClean="0">
                <a:solidFill>
                  <a:schemeClr val="bg1"/>
                </a:solidFill>
              </a:rPr>
              <a:t> Used to create shopping loops and iterate through product options.</a:t>
            </a:r>
          </a:p>
          <a:p>
            <a:r>
              <a:rPr lang="en-US" sz="2400" b="1" dirty="0" smtClean="0">
                <a:solidFill>
                  <a:schemeClr val="bg1"/>
                </a:solidFill>
              </a:rPr>
              <a:t>Output:</a:t>
            </a:r>
            <a:endParaRPr lang="en-US" sz="2400" dirty="0" smtClean="0">
              <a:solidFill>
                <a:schemeClr val="bg1"/>
              </a:solidFill>
            </a:endParaRPr>
          </a:p>
          <a:p>
            <a:pPr lvl="1"/>
            <a:r>
              <a:rPr lang="en-US" sz="2400" b="1" dirty="0" err="1" smtClean="0">
                <a:solidFill>
                  <a:schemeClr val="bg1"/>
                </a:solidFill>
              </a:rPr>
              <a:t>System.out.println</a:t>
            </a:r>
            <a:r>
              <a:rPr lang="en-US" sz="2400" b="1" dirty="0" smtClean="0">
                <a:solidFill>
                  <a:schemeClr val="bg1"/>
                </a:solidFill>
              </a:rPr>
              <a:t>:</a:t>
            </a:r>
            <a:r>
              <a:rPr lang="en-US" sz="2400" dirty="0" smtClean="0">
                <a:solidFill>
                  <a:schemeClr val="bg1"/>
                </a:solidFill>
              </a:rPr>
              <a:t> Used to display messages, the final bill, and other information to the console.</a:t>
            </a:r>
          </a:p>
          <a:p>
            <a:endParaRPr lang="en-US" sz="2400" dirty="0">
              <a:solidFill>
                <a:schemeClr val="bg1"/>
              </a:solidFill>
            </a:endParaRPr>
          </a:p>
        </p:txBody>
      </p:sp>
    </p:spTree>
    <p:extLst>
      <p:ext uri="{BB962C8B-B14F-4D97-AF65-F5344CB8AC3E}">
        <p14:creationId xmlns:p14="http://schemas.microsoft.com/office/powerpoint/2010/main" xmlns="" val="3991573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599"/>
          </a:xfrm>
          <a:prstGeom prst="rect">
            <a:avLst/>
          </a:prstGeom>
          <a:solidFill>
            <a:srgbClr val="0D0A2C">
              <a:alpha val="75000"/>
            </a:srgbClr>
          </a:solidFill>
          <a:ln w="13811">
            <a:solidFill>
              <a:srgbClr val="FFFFFF">
                <a:alpha val="16000"/>
              </a:srgbClr>
            </a:solidFill>
            <a:prstDash val="solid"/>
          </a:ln>
        </p:spPr>
        <p:txBody>
          <a:bodyPr/>
          <a:lstStyle/>
          <a:p>
            <a:r>
              <a:rPr lang="en-US" sz="3600" dirty="0" smtClean="0">
                <a:solidFill>
                  <a:schemeClr val="bg1"/>
                </a:solidFill>
              </a:rPr>
              <a:t> </a:t>
            </a:r>
            <a:r>
              <a:rPr lang="en-US" sz="3600" dirty="0" smtClean="0">
                <a:solidFill>
                  <a:schemeClr val="bg1"/>
                </a:solidFill>
              </a:rPr>
              <a:t>                                                         UNIQUE FROM OTHERS</a:t>
            </a:r>
          </a:p>
          <a:p>
            <a:pPr marL="742950" indent="-742950">
              <a:buAutoNum type="arabicPeriod"/>
            </a:pPr>
            <a:r>
              <a:rPr lang="en-US" sz="3600" dirty="0" smtClean="0">
                <a:solidFill>
                  <a:schemeClr val="bg1"/>
                </a:solidFill>
              </a:rPr>
              <a:t>This </a:t>
            </a:r>
            <a:r>
              <a:rPr lang="en-US" sz="3600" dirty="0" smtClean="0">
                <a:solidFill>
                  <a:schemeClr val="bg1"/>
                </a:solidFill>
              </a:rPr>
              <a:t>program offers a wide range of product categories, from groceries and electronics to fashion and dining </a:t>
            </a:r>
            <a:r>
              <a:rPr lang="en-US" sz="3600" dirty="0" smtClean="0">
                <a:solidFill>
                  <a:schemeClr val="bg1"/>
                </a:solidFill>
              </a:rPr>
              <a:t>items.</a:t>
            </a:r>
          </a:p>
          <a:p>
            <a:pPr marL="742950" indent="-742950">
              <a:buAutoNum type="arabicPeriod"/>
            </a:pPr>
            <a:r>
              <a:rPr lang="en-US" sz="3600" dirty="0" smtClean="0">
                <a:solidFill>
                  <a:schemeClr val="bg1"/>
                </a:solidFill>
              </a:rPr>
              <a:t>The code is organized into different methods, each handling a specific product </a:t>
            </a:r>
            <a:r>
              <a:rPr lang="en-US" sz="3600" dirty="0" smtClean="0">
                <a:solidFill>
                  <a:schemeClr val="bg1"/>
                </a:solidFill>
              </a:rPr>
              <a:t>category.</a:t>
            </a:r>
          </a:p>
          <a:p>
            <a:pPr marL="742950" indent="-742950">
              <a:buAutoNum type="arabicPeriod"/>
            </a:pPr>
            <a:r>
              <a:rPr lang="en-US" sz="3600" dirty="0" smtClean="0">
                <a:solidFill>
                  <a:schemeClr val="bg1"/>
                </a:solidFill>
              </a:rPr>
              <a:t>The program presents a menu-driven interface to the user, making it easy for users to navigate and select products</a:t>
            </a:r>
            <a:r>
              <a:rPr lang="en-US" sz="3600" dirty="0" smtClean="0">
                <a:solidFill>
                  <a:schemeClr val="bg1"/>
                </a:solidFill>
              </a:rPr>
              <a:t>.</a:t>
            </a:r>
          </a:p>
          <a:p>
            <a:pPr marL="742950" indent="-742950">
              <a:buAutoNum type="arabicPeriod"/>
            </a:pPr>
            <a:r>
              <a:rPr lang="en-US" sz="3600" dirty="0" smtClean="0">
                <a:solidFill>
                  <a:schemeClr val="bg1"/>
                </a:solidFill>
              </a:rPr>
              <a:t>The program prompts the user for input, quantity, and continuation with clear and concise messages, enhancing the user experience.</a:t>
            </a:r>
            <a:r>
              <a:rPr lang="en-US" sz="3600" dirty="0" smtClean="0">
                <a:solidFill>
                  <a:schemeClr val="bg1"/>
                </a:solidFill>
              </a:rPr>
              <a:t> </a:t>
            </a:r>
            <a:endParaRPr lang="en-US" sz="3600" dirty="0">
              <a:solidFill>
                <a:schemeClr val="bg1"/>
              </a:solidFill>
            </a:endParaRPr>
          </a:p>
        </p:txBody>
      </p:sp>
      <p:sp>
        <p:nvSpPr>
          <p:cNvPr id="4" name="Text 1"/>
          <p:cNvSpPr/>
          <p:nvPr/>
        </p:nvSpPr>
        <p:spPr>
          <a:xfrm>
            <a:off x="2037993" y="2318028"/>
            <a:ext cx="8679180" cy="694373"/>
          </a:xfrm>
          <a:prstGeom prst="rect">
            <a:avLst/>
          </a:prstGeom>
          <a:noFill/>
          <a:ln/>
        </p:spPr>
        <p:txBody>
          <a:bodyPr wrap="none" rtlCol="0" anchor="t"/>
          <a:lstStyle/>
          <a:p>
            <a:pPr marL="0" indent="0">
              <a:lnSpc>
                <a:spcPts val="5468"/>
              </a:lnSpc>
              <a:buNone/>
            </a:pPr>
            <a:endParaRPr lang="en-US" sz="4374" dirty="0"/>
          </a:p>
        </p:txBody>
      </p:sp>
      <p:sp>
        <p:nvSpPr>
          <p:cNvPr id="6" name="Text 3"/>
          <p:cNvSpPr/>
          <p:nvPr/>
        </p:nvSpPr>
        <p:spPr>
          <a:xfrm>
            <a:off x="2273975" y="3692723"/>
            <a:ext cx="2278380" cy="347186"/>
          </a:xfrm>
          <a:prstGeom prst="rect">
            <a:avLst/>
          </a:prstGeom>
          <a:noFill/>
          <a:ln/>
        </p:spPr>
        <p:txBody>
          <a:bodyPr wrap="none" rtlCol="0" anchor="t"/>
          <a:lstStyle/>
          <a:p>
            <a:pPr marL="0" indent="0">
              <a:lnSpc>
                <a:spcPts val="2734"/>
              </a:lnSpc>
              <a:buNone/>
            </a:pPr>
            <a:endParaRPr lang="en-US" sz="2187" dirty="0"/>
          </a:p>
        </p:txBody>
      </p:sp>
      <p:sp>
        <p:nvSpPr>
          <p:cNvPr id="7" name="Text 4"/>
          <p:cNvSpPr/>
          <p:nvPr/>
        </p:nvSpPr>
        <p:spPr>
          <a:xfrm>
            <a:off x="2273975" y="4262080"/>
            <a:ext cx="2898100" cy="1066205"/>
          </a:xfrm>
          <a:prstGeom prst="rect">
            <a:avLst/>
          </a:prstGeom>
          <a:noFill/>
          <a:ln/>
        </p:spPr>
        <p:txBody>
          <a:bodyPr wrap="square" rtlCol="0" anchor="t"/>
          <a:lstStyle/>
          <a:p>
            <a:pPr marL="0" indent="0">
              <a:lnSpc>
                <a:spcPts val="2799"/>
              </a:lnSpc>
              <a:buNone/>
            </a:pPr>
            <a:endParaRPr lang="en-US" sz="1750" dirty="0"/>
          </a:p>
        </p:txBody>
      </p:sp>
      <p:sp>
        <p:nvSpPr>
          <p:cNvPr id="10" name="Text 7"/>
          <p:cNvSpPr/>
          <p:nvPr/>
        </p:nvSpPr>
        <p:spPr>
          <a:xfrm>
            <a:off x="5866209" y="4262080"/>
            <a:ext cx="2898100" cy="1066205"/>
          </a:xfrm>
          <a:prstGeom prst="rect">
            <a:avLst/>
          </a:prstGeom>
          <a:noFill/>
          <a:ln/>
        </p:spPr>
        <p:txBody>
          <a:bodyPr wrap="square" rtlCol="0" anchor="t"/>
          <a:lstStyle/>
          <a:p>
            <a:pPr marL="0" indent="0">
              <a:lnSpc>
                <a:spcPts val="2799"/>
              </a:lnSpc>
              <a:buNone/>
            </a:pPr>
            <a:endParaRPr lang="en-US" sz="1750" dirty="0"/>
          </a:p>
        </p:txBody>
      </p:sp>
      <p:sp>
        <p:nvSpPr>
          <p:cNvPr id="12" name="Text 9"/>
          <p:cNvSpPr/>
          <p:nvPr/>
        </p:nvSpPr>
        <p:spPr>
          <a:xfrm>
            <a:off x="9458444" y="3692723"/>
            <a:ext cx="2898100" cy="694373"/>
          </a:xfrm>
          <a:prstGeom prst="rect">
            <a:avLst/>
          </a:prstGeom>
          <a:noFill/>
          <a:ln/>
        </p:spPr>
        <p:txBody>
          <a:bodyPr wrap="square" rtlCol="0" anchor="t"/>
          <a:lstStyle/>
          <a:p>
            <a:pPr marL="0" indent="0">
              <a:lnSpc>
                <a:spcPts val="2734"/>
              </a:lnSpc>
              <a:buNone/>
            </a:pPr>
            <a:endParaRPr lang="en-US" sz="2187" dirty="0"/>
          </a:p>
        </p:txBody>
      </p:sp>
      <p:sp>
        <p:nvSpPr>
          <p:cNvPr id="13" name="Text 10"/>
          <p:cNvSpPr/>
          <p:nvPr/>
        </p:nvSpPr>
        <p:spPr>
          <a:xfrm>
            <a:off x="9458444" y="4609267"/>
            <a:ext cx="2898100" cy="1066205"/>
          </a:xfrm>
          <a:prstGeom prst="rect">
            <a:avLst/>
          </a:prstGeom>
          <a:noFill/>
          <a:ln/>
        </p:spPr>
        <p:txBody>
          <a:bodyPr wrap="square" rtlCol="0" anchor="t"/>
          <a:lstStyle/>
          <a:p>
            <a:pPr marL="0" indent="0">
              <a:lnSpc>
                <a:spcPts val="2799"/>
              </a:lnSpc>
              <a:buNone/>
            </a:pPr>
            <a:endParaRPr lang="en-US" sz="1750" dirty="0"/>
          </a:p>
        </p:txBody>
      </p:sp>
    </p:spTree>
    <p:extLst>
      <p:ext uri="{BB962C8B-B14F-4D97-AF65-F5344CB8AC3E}">
        <p14:creationId xmlns:p14="http://schemas.microsoft.com/office/powerpoint/2010/main" xmlns="" val="39915732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75000"/>
            </a:srgbClr>
          </a:solidFill>
          <a:ln w="13811">
            <a:solidFill>
              <a:srgbClr val="FFFFFF">
                <a:alpha val="16000"/>
              </a:srgbClr>
            </a:solidFill>
            <a:prstDash val="solid"/>
          </a:ln>
        </p:spPr>
        <p:txBody>
          <a:bodyPr/>
          <a:lstStyle/>
          <a:p>
            <a:r>
              <a:rPr lang="en-US" sz="3600" dirty="0">
                <a:solidFill>
                  <a:schemeClr val="bg1"/>
                </a:solidFill>
              </a:rPr>
              <a:t>                                                         </a:t>
            </a:r>
            <a:r>
              <a:rPr lang="en-US" sz="3600" dirty="0" smtClean="0">
                <a:solidFill>
                  <a:schemeClr val="bg1"/>
                </a:solidFill>
              </a:rPr>
              <a:t>ARCHETECTURE</a:t>
            </a:r>
            <a:endParaRPr lang="en-US" sz="3600" dirty="0">
              <a:solidFill>
                <a:schemeClr val="bg1"/>
              </a:solidFill>
            </a:endParaRPr>
          </a:p>
          <a:p>
            <a:r>
              <a:rPr lang="en-US" sz="4000" dirty="0">
                <a:solidFill>
                  <a:schemeClr val="bg1"/>
                </a:solidFill>
              </a:rPr>
              <a:t>                      </a:t>
            </a:r>
          </a:p>
          <a:p>
            <a:r>
              <a:rPr lang="en-US" sz="2800" b="1" dirty="0">
                <a:solidFill>
                  <a:schemeClr val="bg1"/>
                </a:solidFill>
                <a:latin typeface="Artifakt Element Thin" panose="020B0203050000020004" pitchFamily="34" charset="0"/>
                <a:ea typeface="Artifakt Element Thin" panose="020B0203050000020004" pitchFamily="34" charset="0"/>
              </a:rPr>
              <a:t>1. Displays the main menu &amp; asks the user for the choice.</a:t>
            </a:r>
          </a:p>
          <a:p>
            <a:pPr marL="742950" indent="-742950">
              <a:buAutoNum type="arabicPeriod"/>
            </a:pPr>
            <a:endParaRPr lang="en-US" sz="2800" b="1" dirty="0">
              <a:solidFill>
                <a:schemeClr val="bg1"/>
              </a:solidFill>
              <a:latin typeface="Artifakt Element Thin" panose="020B0203050000020004" pitchFamily="34" charset="0"/>
              <a:ea typeface="Artifakt Element Thin" panose="020B0203050000020004" pitchFamily="34" charset="0"/>
            </a:endParaRPr>
          </a:p>
          <a:p>
            <a:r>
              <a:rPr lang="en-US" sz="2800" b="1" dirty="0">
                <a:solidFill>
                  <a:schemeClr val="bg1"/>
                </a:solidFill>
                <a:latin typeface="Artifakt Element Thin" panose="020B0203050000020004" pitchFamily="34" charset="0"/>
                <a:ea typeface="Artifakt Element Thin" panose="020B0203050000020004" pitchFamily="34" charset="0"/>
              </a:rPr>
              <a:t>2. After Entering the choice by the user, the bot displays the menu of the respective category </a:t>
            </a:r>
          </a:p>
          <a:p>
            <a:endParaRPr lang="en-US" sz="2800" b="1" dirty="0">
              <a:solidFill>
                <a:schemeClr val="bg1"/>
              </a:solidFill>
              <a:latin typeface="Artifakt Element Thin" panose="020B0203050000020004" pitchFamily="34" charset="0"/>
              <a:ea typeface="Artifakt Element Thin" panose="020B0203050000020004" pitchFamily="34" charset="0"/>
            </a:endParaRPr>
          </a:p>
          <a:p>
            <a:r>
              <a:rPr lang="en-US" sz="2800" b="1" dirty="0">
                <a:solidFill>
                  <a:schemeClr val="bg1"/>
                </a:solidFill>
                <a:latin typeface="Artifakt Element Thin" panose="020B0203050000020004" pitchFamily="34" charset="0"/>
                <a:ea typeface="Artifakt Element Thin" panose="020B0203050000020004" pitchFamily="34" charset="0"/>
              </a:rPr>
              <a:t>3. The bot allows the user to enter the choice of product , After the user has entered the choice it asks whether the user wants to continue in that particular section </a:t>
            </a:r>
          </a:p>
          <a:p>
            <a:endParaRPr lang="en-US" sz="2800" b="1" dirty="0">
              <a:solidFill>
                <a:schemeClr val="bg1"/>
              </a:solidFill>
              <a:latin typeface="Artifakt Element Thin" panose="020B0203050000020004" pitchFamily="34" charset="0"/>
              <a:ea typeface="Artifakt Element Thin" panose="020B0203050000020004" pitchFamily="34" charset="0"/>
            </a:endParaRPr>
          </a:p>
          <a:p>
            <a:r>
              <a:rPr lang="en-US" sz="2800" b="1" dirty="0">
                <a:solidFill>
                  <a:schemeClr val="bg1"/>
                </a:solidFill>
                <a:latin typeface="Artifakt Element Thin" panose="020B0203050000020004" pitchFamily="34" charset="0"/>
                <a:ea typeface="Artifakt Element Thin" panose="020B0203050000020004" pitchFamily="34" charset="0"/>
              </a:rPr>
              <a:t>4. If YES then it displays the same category menu , IF NO Then it displays the Bill Amount in that particular section and ask the user whether he wants continue the main menu </a:t>
            </a:r>
          </a:p>
          <a:p>
            <a:endParaRPr lang="en-US" sz="2800" b="1" dirty="0">
              <a:solidFill>
                <a:schemeClr val="bg1"/>
              </a:solidFill>
              <a:latin typeface="Artifakt Element Thin" panose="020B0203050000020004" pitchFamily="34" charset="0"/>
              <a:ea typeface="Artifakt Element Thin" panose="020B0203050000020004" pitchFamily="34" charset="0"/>
            </a:endParaRPr>
          </a:p>
          <a:p>
            <a:r>
              <a:rPr lang="en-US" sz="2800" b="1" dirty="0">
                <a:solidFill>
                  <a:schemeClr val="bg1"/>
                </a:solidFill>
                <a:latin typeface="Artifakt Element Thin" panose="020B0203050000020004" pitchFamily="34" charset="0"/>
                <a:ea typeface="Artifakt Element Thin" panose="020B0203050000020004" pitchFamily="34" charset="0"/>
              </a:rPr>
              <a:t>5.</a:t>
            </a:r>
            <a:r>
              <a:rPr lang="en-IN" sz="2800" b="1" dirty="0">
                <a:solidFill>
                  <a:schemeClr val="bg1"/>
                </a:solidFill>
                <a:latin typeface="Artifakt Element Thin" panose="020B0203050000020004" pitchFamily="34" charset="0"/>
                <a:ea typeface="Artifakt Element Thin" panose="020B0203050000020004" pitchFamily="34" charset="0"/>
              </a:rPr>
              <a:t> If YES it displays the main menu and asks user for choice if no the bot takes details from user like name and phone number and displays the final bill</a:t>
            </a:r>
            <a:endParaRPr lang="en-US" sz="2800" b="1" dirty="0">
              <a:solidFill>
                <a:schemeClr val="bg1"/>
              </a:solidFill>
              <a:latin typeface="Artifakt Element Thin" panose="020B0203050000020004" pitchFamily="34" charset="0"/>
              <a:ea typeface="Artifakt Element Thin" panose="020B0203050000020004" pitchFamily="34" charset="0"/>
            </a:endParaRPr>
          </a:p>
        </p:txBody>
      </p:sp>
      <p:sp>
        <p:nvSpPr>
          <p:cNvPr id="4" name="Text 1"/>
          <p:cNvSpPr/>
          <p:nvPr/>
        </p:nvSpPr>
        <p:spPr>
          <a:xfrm>
            <a:off x="2037993" y="2318028"/>
            <a:ext cx="8679180" cy="694373"/>
          </a:xfrm>
          <a:prstGeom prst="rect">
            <a:avLst/>
          </a:prstGeom>
          <a:noFill/>
          <a:ln/>
        </p:spPr>
        <p:txBody>
          <a:bodyPr wrap="none" rtlCol="0" anchor="t"/>
          <a:lstStyle/>
          <a:p>
            <a:pPr marL="0" indent="0">
              <a:lnSpc>
                <a:spcPts val="5468"/>
              </a:lnSpc>
              <a:buNone/>
            </a:pPr>
            <a:endParaRPr lang="en-US" sz="4374" dirty="0"/>
          </a:p>
        </p:txBody>
      </p:sp>
      <p:sp>
        <p:nvSpPr>
          <p:cNvPr id="6" name="Text 3"/>
          <p:cNvSpPr/>
          <p:nvPr/>
        </p:nvSpPr>
        <p:spPr>
          <a:xfrm>
            <a:off x="2273975" y="3692723"/>
            <a:ext cx="2278380" cy="347186"/>
          </a:xfrm>
          <a:prstGeom prst="rect">
            <a:avLst/>
          </a:prstGeom>
          <a:noFill/>
          <a:ln/>
        </p:spPr>
        <p:txBody>
          <a:bodyPr wrap="none" rtlCol="0" anchor="t"/>
          <a:lstStyle/>
          <a:p>
            <a:pPr marL="0" indent="0">
              <a:lnSpc>
                <a:spcPts val="2734"/>
              </a:lnSpc>
              <a:buNone/>
            </a:pPr>
            <a:endParaRPr lang="en-US" sz="2187" dirty="0"/>
          </a:p>
        </p:txBody>
      </p:sp>
      <p:sp>
        <p:nvSpPr>
          <p:cNvPr id="7" name="Text 4"/>
          <p:cNvSpPr/>
          <p:nvPr/>
        </p:nvSpPr>
        <p:spPr>
          <a:xfrm>
            <a:off x="2273975" y="4262080"/>
            <a:ext cx="2898100" cy="1066205"/>
          </a:xfrm>
          <a:prstGeom prst="rect">
            <a:avLst/>
          </a:prstGeom>
          <a:noFill/>
          <a:ln/>
        </p:spPr>
        <p:txBody>
          <a:bodyPr wrap="square" rtlCol="0" anchor="t"/>
          <a:lstStyle/>
          <a:p>
            <a:pPr marL="0" indent="0">
              <a:lnSpc>
                <a:spcPts val="2799"/>
              </a:lnSpc>
              <a:buNone/>
            </a:pPr>
            <a:endParaRPr lang="en-US" sz="1750" dirty="0"/>
          </a:p>
        </p:txBody>
      </p:sp>
      <p:sp>
        <p:nvSpPr>
          <p:cNvPr id="10" name="Text 7"/>
          <p:cNvSpPr/>
          <p:nvPr/>
        </p:nvSpPr>
        <p:spPr>
          <a:xfrm>
            <a:off x="5866209" y="4262080"/>
            <a:ext cx="2898100" cy="1066205"/>
          </a:xfrm>
          <a:prstGeom prst="rect">
            <a:avLst/>
          </a:prstGeom>
          <a:noFill/>
          <a:ln/>
        </p:spPr>
        <p:txBody>
          <a:bodyPr wrap="square" rtlCol="0" anchor="t"/>
          <a:lstStyle/>
          <a:p>
            <a:pPr marL="0" indent="0">
              <a:lnSpc>
                <a:spcPts val="2799"/>
              </a:lnSpc>
              <a:buNone/>
            </a:pPr>
            <a:endParaRPr lang="en-US" sz="1750" dirty="0"/>
          </a:p>
        </p:txBody>
      </p:sp>
      <p:sp>
        <p:nvSpPr>
          <p:cNvPr id="12" name="Text 9"/>
          <p:cNvSpPr/>
          <p:nvPr/>
        </p:nvSpPr>
        <p:spPr>
          <a:xfrm>
            <a:off x="9458444" y="3692723"/>
            <a:ext cx="2898100" cy="694373"/>
          </a:xfrm>
          <a:prstGeom prst="rect">
            <a:avLst/>
          </a:prstGeom>
          <a:noFill/>
          <a:ln/>
        </p:spPr>
        <p:txBody>
          <a:bodyPr wrap="square" rtlCol="0" anchor="t"/>
          <a:lstStyle/>
          <a:p>
            <a:pPr marL="0" indent="0">
              <a:lnSpc>
                <a:spcPts val="2734"/>
              </a:lnSpc>
              <a:buNone/>
            </a:pPr>
            <a:endParaRPr lang="en-US" sz="2187" dirty="0"/>
          </a:p>
        </p:txBody>
      </p:sp>
      <p:sp>
        <p:nvSpPr>
          <p:cNvPr id="13" name="Text 10"/>
          <p:cNvSpPr/>
          <p:nvPr/>
        </p:nvSpPr>
        <p:spPr>
          <a:xfrm>
            <a:off x="9458444" y="4609267"/>
            <a:ext cx="2898100" cy="1066205"/>
          </a:xfrm>
          <a:prstGeom prst="rect">
            <a:avLst/>
          </a:prstGeom>
          <a:noFill/>
          <a:ln/>
        </p:spPr>
        <p:txBody>
          <a:bodyPr wrap="square" rtlCol="0" anchor="t"/>
          <a:lstStyle/>
          <a:p>
            <a:pPr marL="0" indent="0">
              <a:lnSpc>
                <a:spcPts val="2799"/>
              </a:lnSpc>
              <a:buNone/>
            </a:pP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131</TotalTime>
  <Words>709</Words>
  <Application>Microsoft Office PowerPoint</Application>
  <PresentationFormat>Custom</PresentationFormat>
  <Paragraphs>47</Paragraphs>
  <Slides>5</Slides>
  <Notes>5</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DELL</cp:lastModifiedBy>
  <cp:revision>9</cp:revision>
  <dcterms:created xsi:type="dcterms:W3CDTF">2023-09-10T06:39:03Z</dcterms:created>
  <dcterms:modified xsi:type="dcterms:W3CDTF">2023-09-10T09:28:34Z</dcterms:modified>
</cp:coreProperties>
</file>